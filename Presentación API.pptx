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57" r:id="rId4"/>
    <p:sldId id="274" r:id="rId5"/>
    <p:sldId id="259" r:id="rId6"/>
    <p:sldId id="261" r:id="rId7"/>
    <p:sldId id="263" r:id="rId8"/>
    <p:sldId id="264" r:id="rId9"/>
    <p:sldId id="266" r:id="rId10"/>
    <p:sldId id="279" r:id="rId11"/>
    <p:sldId id="278" r:id="rId12"/>
    <p:sldId id="277" r:id="rId13"/>
    <p:sldId id="27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01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grupo y reparto de la exposición: quién explica cada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la demo el JSON que devuelve la API de países y cómo se recorre con forEach.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resumida de getJSON en app.js. Quien explica: integrante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fetch con async/await dentro de try/catch. Comparar con Axios: Axios lanza error en 4xx/5xx; fetch no, hay que revisar res.ok.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real: REST Countries retiró la v3.1 y la v5 exige API key; por eso migramos a una API de países que no la necesita. TMDB también usa API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DevTools &gt; Application para mostrar las claves atlas:favoritos y atlas:cache.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DevTools &gt; Application &gt; Local Storage para mostrar las claves. Integrante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1478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0" i="0" dirty="0">
                <a:solidFill>
                  <a:srgbClr val="EEF3F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Consumo de API y almacenamiento en el navegador</a:t>
            </a:r>
            <a:endParaRPr lang="en-US" sz="5200" dirty="0"/>
          </a:p>
        </p:txBody>
      </p:sp>
      <p:sp>
        <p:nvSpPr>
          <p:cNvPr id="20" name="Integrantes"/>
          <p:cNvSpPr/>
          <p:nvPr/>
        </p:nvSpPr>
        <p:spPr>
          <a:xfrm>
            <a:off x="812800" y="2700000"/>
            <a:ext cx="10883392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spcAft>
                <a:spcPts val="300"/>
              </a:spcAft>
              <a:buNone/>
            </a:pPr>
            <a:r>
              <a:rPr lang="es-CO" sz="1600" dirty="0">
                <a:solidFill>
                  <a:srgbClr val="92A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Johan Adrada</a:t>
            </a:r>
          </a:p>
          <a:p>
            <a:pPr marL="0" indent="0" algn="l">
              <a:lnSpc>
                <a:spcPts val="2240"/>
              </a:lnSpc>
              <a:spcAft>
                <a:spcPts val="300"/>
              </a:spcAft>
              <a:buNone/>
            </a:pPr>
            <a:r>
              <a:rPr lang="es-CO" sz="1600" dirty="0">
                <a:solidFill>
                  <a:srgbClr val="92A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Andres Clavijo</a:t>
            </a:r>
          </a:p>
          <a:p>
            <a:pPr marL="0" indent="0" algn="l">
              <a:lnSpc>
                <a:spcPts val="2240"/>
              </a:lnSpc>
              <a:spcAft>
                <a:spcPts val="300"/>
              </a:spcAft>
              <a:buNone/>
            </a:pPr>
            <a:r>
              <a:rPr lang="es-CO" sz="1600" dirty="0">
                <a:solidFill>
                  <a:srgbClr val="92A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Jose Luis Duarte</a:t>
            </a:r>
          </a:p>
          <a:p>
            <a:pPr marL="0" indent="0" algn="l">
              <a:lnSpc>
                <a:spcPts val="2240"/>
              </a:lnSpc>
              <a:spcAft>
                <a:spcPts val="300"/>
              </a:spcAft>
              <a:buNone/>
            </a:pPr>
            <a:r>
              <a:rPr lang="es-CO" sz="1600" dirty="0">
                <a:solidFill>
                  <a:srgbClr val="92A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Jennifer Quiroga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API, REST y endpoints</a:t>
            </a:r>
          </a:p>
        </p:txBody>
      </p:sp>
      <p:sp>
        <p:nvSpPr>
          <p:cNvPr id="3" name="Shape 3"/>
          <p:cNvSpPr/>
          <p:nvPr/>
        </p:nvSpPr>
        <p:spPr>
          <a:xfrm>
            <a:off x="815975" y="1623616"/>
            <a:ext cx="3381075" cy="15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1073150" y="1880791"/>
            <a:ext cx="286672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</a:p>
        </p:txBody>
      </p:sp>
      <p:sp>
        <p:nvSpPr>
          <p:cNvPr id="5" name="Text 5"/>
          <p:cNvSpPr/>
          <p:nvPr/>
        </p:nvSpPr>
        <p:spPr>
          <a:xfrm>
            <a:off x="1073150" y="2231231"/>
            <a:ext cx="2866725" cy="74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forma en que dos programas se comunican entre sí.</a:t>
            </a:r>
          </a:p>
        </p:txBody>
      </p:sp>
      <p:sp>
        <p:nvSpPr>
          <p:cNvPr id="6" name="Shape 6"/>
          <p:cNvSpPr/>
          <p:nvPr/>
        </p:nvSpPr>
        <p:spPr>
          <a:xfrm>
            <a:off x="4407050" y="1623616"/>
            <a:ext cx="3381075" cy="15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4664225" y="1880791"/>
            <a:ext cx="286672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</a:t>
            </a:r>
          </a:p>
        </p:txBody>
      </p:sp>
      <p:sp>
        <p:nvSpPr>
          <p:cNvPr id="8" name="Text 8"/>
          <p:cNvSpPr/>
          <p:nvPr/>
        </p:nvSpPr>
        <p:spPr>
          <a:xfrm>
            <a:off x="4664225" y="2231231"/>
            <a:ext cx="2866725" cy="74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para que las aplicaciones se comuniquen usando HTTP.</a:t>
            </a:r>
          </a:p>
        </p:txBody>
      </p:sp>
      <p:sp>
        <p:nvSpPr>
          <p:cNvPr id="9" name="Shape 9"/>
          <p:cNvSpPr/>
          <p:nvPr/>
        </p:nvSpPr>
        <p:spPr>
          <a:xfrm>
            <a:off x="7998125" y="1623616"/>
            <a:ext cx="3381075" cy="15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8255300" y="1880791"/>
            <a:ext cx="286672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</a:t>
            </a:r>
          </a:p>
        </p:txBody>
      </p:sp>
      <p:sp>
        <p:nvSpPr>
          <p:cNvPr id="11" name="Text 11"/>
          <p:cNvSpPr/>
          <p:nvPr/>
        </p:nvSpPr>
        <p:spPr>
          <a:xfrm>
            <a:off x="8255300" y="2231231"/>
            <a:ext cx="2866725" cy="74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URL donde está un recurso o servicio de la API.</a:t>
            </a:r>
          </a:p>
        </p:txBody>
      </p:sp>
      <p:sp>
        <p:nvSpPr>
          <p:cNvPr id="12" name="Shape 12"/>
          <p:cNvSpPr/>
          <p:nvPr/>
        </p:nvSpPr>
        <p:spPr>
          <a:xfrm>
            <a:off x="815975" y="3400000"/>
            <a:ext cx="10563225" cy="640000"/>
          </a:xfrm>
          <a:prstGeom prst="roundRect">
            <a:avLst>
              <a:gd name="adj" fmla="val 9000"/>
            </a:avLst>
          </a:prstGeom>
          <a:solidFill>
            <a:srgbClr val="14282B"/>
          </a:solidFill>
          <a:ln/>
        </p:spPr>
      </p:sp>
      <p:sp>
        <p:nvSpPr>
          <p:cNvPr id="13" name="Text 13"/>
          <p:cNvSpPr/>
          <p:nvPr/>
        </p:nvSpPr>
        <p:spPr>
          <a:xfrm>
            <a:off x="1073150" y="3570000"/>
            <a:ext cx="1004887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https://pokeapi.co/api/v2/pokemon/pikachu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Una API REST responde con JSON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41"/>
          <a:ext cx="10553700" cy="2540000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Método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 qué sirve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Leer datos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/countries/CO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4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Crear un recurso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Registrar un usuario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Actualizar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Editar un perfil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Eliminar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8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Borrar un favorito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477941"/>
            <a:ext cx="10883392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de estado: </a:t>
            </a:r>
            <a:r>
              <a:rPr lang="es-CO" sz="16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correcto · </a:t>
            </a:r>
            <a:r>
              <a:rPr lang="es-CO" sz="16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</a:t>
            </a: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creado · </a:t>
            </a:r>
            <a:r>
              <a:rPr lang="es-CO" sz="16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</a:t>
            </a: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error del cliente · </a:t>
            </a:r>
            <a:r>
              <a:rPr lang="es-CO" sz="16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autorización · </a:t>
            </a:r>
            <a:r>
              <a:rPr lang="es-CO" sz="16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404</a:t>
            </a: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existe · </a:t>
            </a:r>
            <a:r>
              <a:rPr lang="es-CO" sz="16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</a:t>
            </a: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error del servidor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Estructura de un JSON</a:t>
            </a:r>
          </a:p>
        </p:txBody>
      </p:sp>
      <p:sp>
        <p:nvSpPr>
          <p:cNvPr id="2" name="Shape 2"/>
          <p:cNvSpPr/>
          <p:nvPr/>
        </p:nvSpPr>
        <p:spPr>
          <a:xfrm>
            <a:off x="815975" y="1623616"/>
            <a:ext cx="4700000" cy="2330000"/>
          </a:xfrm>
          <a:prstGeom prst="roundRect">
            <a:avLst>
              <a:gd name="adj" fmla="val 4372"/>
            </a:avLst>
          </a:prstGeom>
          <a:solidFill>
            <a:srgbClr val="14282B"/>
          </a:solidFill>
          <a:ln/>
        </p:spPr>
      </p:sp>
      <p:sp>
        <p:nvSpPr>
          <p:cNvPr id="3" name="Text 3"/>
          <p:cNvSpPr/>
          <p:nvPr/>
        </p:nvSpPr>
        <p:spPr>
          <a:xfrm>
            <a:off x="1095975" y="1873616"/>
            <a:ext cx="414000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{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"nombre": "Pikachu",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"tipo": "Eléctrico",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"nivel": 25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</a:p>
        </p:txBody>
      </p:sp>
      <p:sp>
        <p:nvSpPr>
          <p:cNvPr id="4" name="Shape 4"/>
          <p:cNvSpPr/>
          <p:nvPr/>
        </p:nvSpPr>
        <p:spPr>
          <a:xfrm>
            <a:off x="5725975" y="1623616"/>
            <a:ext cx="5653225" cy="11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5983150" y="1880791"/>
            <a:ext cx="513887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Acceder a un dato</a:t>
            </a:r>
          </a:p>
        </p:txBody>
      </p:sp>
      <p:sp>
        <p:nvSpPr>
          <p:cNvPr id="6" name="Text 6"/>
          <p:cNvSpPr/>
          <p:nvPr/>
        </p:nvSpPr>
        <p:spPr>
          <a:xfrm>
            <a:off x="5983150" y="2231231"/>
            <a:ext cx="5138875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datos.nombre</a:t>
            </a:r>
          </a:p>
        </p:txBody>
      </p:sp>
      <p:sp>
        <p:nvSpPr>
          <p:cNvPr id="7" name="Shape 7"/>
          <p:cNvSpPr/>
          <p:nvPr/>
        </p:nvSpPr>
        <p:spPr>
          <a:xfrm>
            <a:off x="5725975" y="2853616"/>
            <a:ext cx="5653225" cy="11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8" name="Text 8"/>
          <p:cNvSpPr/>
          <p:nvPr/>
        </p:nvSpPr>
        <p:spPr>
          <a:xfrm>
            <a:off x="5983150" y="3110791"/>
            <a:ext cx="513887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Recorrer una lista</a:t>
            </a:r>
          </a:p>
        </p:txBody>
      </p:sp>
      <p:sp>
        <p:nvSpPr>
          <p:cNvPr id="9" name="Text 9"/>
          <p:cNvSpPr/>
          <p:nvPr/>
        </p:nvSpPr>
        <p:spPr>
          <a:xfrm>
            <a:off x="5983150" y="3461231"/>
            <a:ext cx="5138875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usuarios.forEach(...)</a:t>
            </a:r>
          </a:p>
        </p:txBody>
      </p:sp>
      <p:sp>
        <p:nvSpPr>
          <p:cNvPr id="11" name="Text 11"/>
          <p:cNvSpPr/>
          <p:nvPr/>
        </p:nvSpPr>
        <p:spPr>
          <a:xfrm>
            <a:off x="812800" y="4200000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como una ficha con etiquetas: cada dato tiene un nombre y un valor.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fetch con async/await y Axios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780"/>
            <a:ext cx="10566400" cy="2324100"/>
          </a:xfrm>
          <a:prstGeom prst="roundRect">
            <a:avLst>
              <a:gd name="adj" fmla="val 4372"/>
            </a:avLst>
          </a:prstGeom>
          <a:solidFill>
            <a:srgbClr val="14282B"/>
          </a:solidFill>
          <a:ln/>
        </p:spPr>
      </p:sp>
      <p:sp>
        <p:nvSpPr>
          <p:cNvPr id="4" name="Text 2"/>
          <p:cNvSpPr/>
          <p:nvPr/>
        </p:nvSpPr>
        <p:spPr>
          <a:xfrm>
            <a:off x="1092200" y="174238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async function getJSON(url) {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95400" y="2009080"/>
            <a:ext cx="100985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const res = await fetch(url, { signal: ctrl.signal });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95400" y="2275780"/>
            <a:ext cx="100985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(res.status === 404) return [];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5400" y="2542480"/>
            <a:ext cx="100985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(!res.ok) throw new Error("Código " + res.status);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5400" y="2809180"/>
            <a:ext cx="100985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const data = await res.json();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5400" y="3075880"/>
            <a:ext cx="100985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 data;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2200" y="334258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400" dirty="0"/>
          </a:p>
        </p:txBody>
      </p:sp>
      <p:sp>
        <p:nvSpPr>
          <p:cNvPr id="21" name="Shape 21"/>
          <p:cNvSpPr/>
          <p:nvPr/>
        </p:nvSpPr>
        <p:spPr>
          <a:xfrm>
            <a:off x="815975" y="4050000"/>
            <a:ext cx="5176612" cy="14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1073150" y="4307175"/>
            <a:ext cx="466226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</a:t>
            </a:r>
          </a:p>
        </p:txBody>
      </p:sp>
      <p:sp>
        <p:nvSpPr>
          <p:cNvPr id="23" name="Text 23"/>
          <p:cNvSpPr/>
          <p:nvPr/>
        </p:nvSpPr>
        <p:spPr>
          <a:xfrm>
            <a:off x="1073150" y="4657615"/>
            <a:ext cx="4662262" cy="64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spcAft>
                <a:spcPts val="400"/>
              </a:spcAft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Viene integrado y usa .json().</a:t>
            </a:r>
          </a:p>
          <a:p>
            <a:pPr marL="0" indent="0" algn="l">
              <a:lnSpc>
                <a:spcPts val="196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falla con 404 o 500: se revisa res.ok.</a:t>
            </a:r>
          </a:p>
        </p:txBody>
      </p:sp>
      <p:sp>
        <p:nvSpPr>
          <p:cNvPr id="24" name="Shape 24"/>
          <p:cNvSpPr/>
          <p:nvPr/>
        </p:nvSpPr>
        <p:spPr>
          <a:xfrm>
            <a:off x="6202587" y="4050000"/>
            <a:ext cx="5176612" cy="14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6459762" y="4307175"/>
            <a:ext cx="466226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Axios</a:t>
            </a:r>
          </a:p>
        </p:txBody>
      </p:sp>
      <p:sp>
        <p:nvSpPr>
          <p:cNvPr id="26" name="Text 26"/>
          <p:cNvSpPr/>
          <p:nvPr/>
        </p:nvSpPr>
        <p:spPr>
          <a:xfrm>
            <a:off x="6459762" y="4657615"/>
            <a:ext cx="4662262" cy="64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spcAft>
                <a:spcPts val="400"/>
              </a:spcAft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que instalarlo; convierte el JSON solo.</a:t>
            </a:r>
          </a:p>
          <a:p>
            <a:pPr marL="0" indent="0" algn="l">
              <a:lnSpc>
                <a:spcPts val="196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 rechaza el 404 y el 500.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EEF3F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La interfaz tiene cuatro estados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2482850" cy="1611313"/>
          </a:xfrm>
          <a:prstGeom prst="roundRect">
            <a:avLst>
              <a:gd name="adj" fmla="val 6108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Cargando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3123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Spinner mientras llega la respuesta.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8375" y="1623616"/>
            <a:ext cx="2482850" cy="1611313"/>
          </a:xfrm>
          <a:prstGeom prst="roundRect">
            <a:avLst>
              <a:gd name="adj" fmla="val 6108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5550" y="18807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65550" y="2231231"/>
            <a:ext cx="202755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 claro si hay 500, timeout o no hay 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623616"/>
            <a:ext cx="2482850" cy="1611313"/>
          </a:xfrm>
          <a:prstGeom prst="roundRect">
            <a:avLst>
              <a:gd name="adj" fmla="val 6108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950" y="18807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Vacío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57950" y="2231231"/>
            <a:ext cx="202755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Invitar a buscar de nuevo cuando no hay coincidencias.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3175" y="1623616"/>
            <a:ext cx="2482850" cy="1611313"/>
          </a:xfrm>
          <a:prstGeom prst="roundRect">
            <a:avLst>
              <a:gd name="adj" fmla="val 6108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350" y="18807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50350" y="223123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Tarjetas con los datos que sí llegaron.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CORS, paginación y API keys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3380284" cy="1860153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31231"/>
            <a:ext cx="2951912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navegador bloquea respuestas de otro origen si el servidor no lo permite con cabeceras. Se corrige en el servidor, no en el cliente.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1623616"/>
            <a:ext cx="3380383" cy="1860153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880791"/>
            <a:ext cx="295201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Paginación y filtros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984" y="2231231"/>
            <a:ext cx="295201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Parámetros de consulta como ?region= o ?currency= reducen lo que se descarga.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41" y="1623616"/>
            <a:ext cx="3380284" cy="1860153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88079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916" y="2231231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Identifican a quien consulta. En el front-end quedan visibles: nunca para secretos.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EEF3F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localStorage vs sessionStorage vs cookies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41"/>
          <a:ext cx="10553700" cy="2770442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localStorage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sessionStorage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Cookies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Hasta que se elimina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Hasta cerrar la pestaña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Según su vencimiento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63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Capacidad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5 MB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5 MB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4 KB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envía al servidor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Sí, automáticamente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779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Uso típico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Favoritos y preferencias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 temporales de una pestaña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EF3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Sesiones y autenticación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850000"/>
            <a:ext cx="113792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0A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 guardar contraseñas ni datos </a:t>
            </a:r>
            <a:r>
              <a:rPr lang="en-US" sz="1600" dirty="0" err="1">
                <a:solidFill>
                  <a:srgbClr val="F0A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sensibles</a:t>
            </a:r>
            <a:r>
              <a:rPr lang="en-US" sz="1600" dirty="0">
                <a:solidFill>
                  <a:srgbClr val="F0A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Código: guardar y leer con localStorage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780"/>
            <a:ext cx="10566400" cy="2324100"/>
          </a:xfrm>
          <a:prstGeom prst="roundRect">
            <a:avLst>
              <a:gd name="adj" fmla="val 4372"/>
            </a:avLst>
          </a:prstGeom>
          <a:solidFill>
            <a:srgbClr val="14282B"/>
          </a:solidFill>
          <a:ln/>
        </p:spPr>
      </p:sp>
      <p:sp>
        <p:nvSpPr>
          <p:cNvPr id="4" name="Text 2"/>
          <p:cNvSpPr/>
          <p:nvPr/>
        </p:nvSpPr>
        <p:spPr>
          <a:xfrm>
            <a:off x="1092200" y="174238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function load(key, fallback) {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95400" y="2009080"/>
            <a:ext cx="100985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try { return JSON.parse(localStorage.getItem(key)) ?? fallback; 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95400" y="2275780"/>
            <a:ext cx="100985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catch { return fallback; 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2200" y="254248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2200" y="280918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function save(key, value) {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5400" y="3075880"/>
            <a:ext cx="100985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localStorage.setItem(key, JSON.stringify(value));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2200" y="3342580"/>
            <a:ext cx="10307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EF3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4091880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 solo guarda texto: JSON.stringify para guardar y JSON.parse para leer. El try/catch evita que un dato dañado rompa la página.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Caché con vencimiento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3380284" cy="1712472"/>
          </a:xfrm>
          <a:prstGeom prst="roundRect">
            <a:avLst>
              <a:gd name="adj" fmla="val 7224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Guardar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31231"/>
            <a:ext cx="29519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almacena { time, data } por cada URL consultada.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1623616"/>
            <a:ext cx="3380383" cy="1712472"/>
          </a:xfrm>
          <a:prstGeom prst="roundRect">
            <a:avLst>
              <a:gd name="adj" fmla="val 7224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880791"/>
            <a:ext cx="295201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Comprobar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984" y="2231231"/>
            <a:ext cx="2952014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pasaron menos de 10 minutos, se usa la caché sin pedir a la 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41" y="1623616"/>
            <a:ext cx="3380284" cy="1712472"/>
          </a:xfrm>
          <a:prstGeom prst="roundRect">
            <a:avLst>
              <a:gd name="adj" fmla="val 7224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88079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Renovar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916" y="2231231"/>
            <a:ext cx="29519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venció, se vuelve a pedir y se actualiza.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Cómo decide la caché</a:t>
            </a:r>
            <a:endParaRPr lang="en-US" sz="3200" dirty="0"/>
          </a:p>
        </p:txBody>
      </p:sp>
      <p:pic>
        <p:nvPicPr>
          <p:cNvPr id="3" name="Image 0" descr="Diagrama de flujo: al buscar se revisa si hay una respuesta en caché con menos de 10 minutos. Si sí, se usa; si no, se pide a la API, se guarda con la hora y se muestra"/>
          <p:cNvPicPr>
            <a:picLocks noChangeAspect="1"/>
          </p:cNvPicPr>
          <p:nvPr/>
        </p:nvPicPr>
        <p:blipFill>
          <a:blip r:embed="rId2"/>
          <a:srcRect t="-40" b="-40"/>
          <a:stretch/>
        </p:blipFill>
        <p:spPr>
          <a:xfrm>
            <a:off x="812800" y="1488380"/>
            <a:ext cx="10566400" cy="2984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70148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caminos: reutilizar lo guardado o pedir de nuevo y renovar la caché.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b="0" i="0" dirty="0">
                <a:solidFill>
                  <a:srgbClr val="EEF3F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Qué no guardar en el navegador</a:t>
            </a:r>
          </a:p>
        </p:txBody>
      </p:sp>
      <p:sp>
        <p:nvSpPr>
          <p:cNvPr id="3" name="Shape 3"/>
          <p:cNvSpPr/>
          <p:nvPr/>
        </p:nvSpPr>
        <p:spPr>
          <a:xfrm>
            <a:off x="815975" y="1623616"/>
            <a:ext cx="3381075" cy="10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1073150" y="1723616"/>
            <a:ext cx="286672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Contraseñas</a:t>
            </a:r>
          </a:p>
        </p:txBody>
      </p:sp>
      <p:sp>
        <p:nvSpPr>
          <p:cNvPr id="5" name="Shape 5"/>
          <p:cNvSpPr/>
          <p:nvPr/>
        </p:nvSpPr>
        <p:spPr>
          <a:xfrm>
            <a:off x="4407050" y="1623616"/>
            <a:ext cx="3381075" cy="10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4664225" y="1723616"/>
            <a:ext cx="286672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bancarios</a:t>
            </a:r>
          </a:p>
        </p:txBody>
      </p:sp>
      <p:sp>
        <p:nvSpPr>
          <p:cNvPr id="7" name="Shape 7"/>
          <p:cNvSpPr/>
          <p:nvPr/>
        </p:nvSpPr>
        <p:spPr>
          <a:xfrm>
            <a:off x="7998125" y="1623616"/>
            <a:ext cx="3381075" cy="10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8" name="Text 8"/>
          <p:cNvSpPr/>
          <p:nvPr/>
        </p:nvSpPr>
        <p:spPr>
          <a:xfrm>
            <a:off x="8255300" y="1723616"/>
            <a:ext cx="286672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Tarjetas de crédito</a:t>
            </a:r>
          </a:p>
        </p:txBody>
      </p:sp>
      <p:sp>
        <p:nvSpPr>
          <p:cNvPr id="9" name="Shape 9"/>
          <p:cNvSpPr/>
          <p:nvPr/>
        </p:nvSpPr>
        <p:spPr>
          <a:xfrm>
            <a:off x="815975" y="2833616"/>
            <a:ext cx="3381075" cy="10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1073150" y="2933616"/>
            <a:ext cx="286672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médica privada</a:t>
            </a:r>
          </a:p>
        </p:txBody>
      </p:sp>
      <p:sp>
        <p:nvSpPr>
          <p:cNvPr id="11" name="Shape 11"/>
          <p:cNvSpPr/>
          <p:nvPr/>
        </p:nvSpPr>
        <p:spPr>
          <a:xfrm>
            <a:off x="4407050" y="2833616"/>
            <a:ext cx="3381075" cy="10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4664225" y="2933616"/>
            <a:ext cx="286672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de acceso sensibles</a:t>
            </a:r>
          </a:p>
        </p:txBody>
      </p:sp>
      <p:sp>
        <p:nvSpPr>
          <p:cNvPr id="13" name="Shape 13"/>
          <p:cNvSpPr/>
          <p:nvPr/>
        </p:nvSpPr>
        <p:spPr>
          <a:xfrm>
            <a:off x="7998125" y="2833616"/>
            <a:ext cx="3381075" cy="10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8255300" y="2933616"/>
            <a:ext cx="286672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personal confidencial</a:t>
            </a:r>
          </a:p>
        </p:txBody>
      </p:sp>
      <p:sp>
        <p:nvSpPr>
          <p:cNvPr id="15" name="Text 15"/>
          <p:cNvSpPr/>
          <p:nvPr/>
        </p:nvSpPr>
        <p:spPr>
          <a:xfrm>
            <a:off x="812800" y="4163616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s-CO" sz="1600" dirty="0">
                <a:solidFill>
                  <a:srgbClr val="EEF3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Cualquiera puede verlos desde las herramientas del navegador.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b="0" i="0" dirty="0">
                <a:solidFill>
                  <a:srgbClr val="142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Manejo de estado: local vs global</a:t>
            </a:r>
          </a:p>
        </p:txBody>
      </p:sp>
      <p:sp>
        <p:nvSpPr>
          <p:cNvPr id="2" name="Text 2"/>
          <p:cNvSpPr/>
          <p:nvPr/>
        </p:nvSpPr>
        <p:spPr>
          <a:xfrm>
            <a:off x="812800" y="1480000"/>
            <a:ext cx="1088339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estado es la información que usa una aplicación en un momento determinado.</a:t>
            </a:r>
          </a:p>
        </p:txBody>
      </p:sp>
      <p:sp>
        <p:nvSpPr>
          <p:cNvPr id="3" name="Shape 3"/>
          <p:cNvSpPr/>
          <p:nvPr/>
        </p:nvSpPr>
        <p:spPr>
          <a:xfrm>
            <a:off x="815975" y="2150000"/>
            <a:ext cx="5176612" cy="19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1073150" y="2407175"/>
            <a:ext cx="466226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local</a:t>
            </a:r>
          </a:p>
        </p:txBody>
      </p:sp>
      <p:sp>
        <p:nvSpPr>
          <p:cNvPr id="5" name="Text 5"/>
          <p:cNvSpPr/>
          <p:nvPr/>
        </p:nvSpPr>
        <p:spPr>
          <a:xfrm>
            <a:off x="1073150" y="2757615"/>
            <a:ext cx="4662262" cy="114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spcAft>
                <a:spcPts val="600"/>
              </a:spcAft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usa un solo componente.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const [contador, setContador] = useState(0);</a:t>
            </a:r>
          </a:p>
        </p:txBody>
      </p:sp>
      <p:sp>
        <p:nvSpPr>
          <p:cNvPr id="6" name="Shape 6"/>
          <p:cNvSpPr/>
          <p:nvPr/>
        </p:nvSpPr>
        <p:spPr>
          <a:xfrm>
            <a:off x="6202587" y="2150000"/>
            <a:ext cx="5176612" cy="19000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6350">
            <a:solidFill>
              <a:srgbClr val="CDDAD8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459762" y="2407175"/>
            <a:ext cx="466226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global</a:t>
            </a:r>
          </a:p>
        </p:txBody>
      </p:sp>
      <p:sp>
        <p:nvSpPr>
          <p:cNvPr id="8" name="Text 8"/>
          <p:cNvSpPr/>
          <p:nvPr/>
        </p:nvSpPr>
        <p:spPr>
          <a:xfrm>
            <a:off x="6459762" y="2757615"/>
            <a:ext cx="4662262" cy="114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spcAft>
                <a:spcPts val="600"/>
              </a:spcAft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comparten varios componentes.</a:t>
            </a:r>
          </a:p>
          <a:p>
            <a:pPr marL="0" indent="0" algn="l">
              <a:lnSpc>
                <a:spcPts val="1960"/>
              </a:lnSpc>
              <a:buNone/>
            </a:pPr>
            <a:r>
              <a:rPr lang="es-CO" sz="14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Context · Redux · Pinia · Zustand</a:t>
            </a:r>
          </a:p>
        </p:txBody>
      </p:sp>
      <p:sp>
        <p:nvSpPr>
          <p:cNvPr id="9" name="Text 9"/>
          <p:cNvSpPr/>
          <p:nvPr/>
        </p:nvSpPr>
        <p:spPr>
          <a:xfrm>
            <a:off x="812800" y="4350000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s-CO" sz="1600" dirty="0">
                <a:solidFill>
                  <a:srgbClr val="142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Ejemplo: una lista de películas favoritas traída de una API puede estar en el estado global y usarse en toda la app sin volver a consultar.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mo de API y almacenamiento en el navegador">
  <a:themeElements>
    <a:clrScheme name="Consumo de API y almacenamiento en el navegador">
      <a:dk1>
        <a:srgbClr val="14282B"/>
      </a:dk1>
      <a:lt1>
        <a:srgbClr val="EEF3F2"/>
      </a:lt1>
      <a:dk2>
        <a:srgbClr val="4B5B5D"/>
      </a:dk2>
      <a:lt2>
        <a:srgbClr val="D8DFDE"/>
      </a:lt2>
      <a:accent1>
        <a:srgbClr val="4CC2BD"/>
      </a:accent1>
      <a:accent2>
        <a:srgbClr val="F0A742"/>
      </a:accent2>
      <a:accent3>
        <a:srgbClr val="92A9AC"/>
      </a:accent3>
      <a:accent4>
        <a:srgbClr val="9AA0A6"/>
      </a:accent4>
      <a:accent5>
        <a:srgbClr val="6B797B"/>
      </a:accent5>
      <a:accent6>
        <a:srgbClr val="8C9898"/>
      </a:accent6>
      <a:hlink>
        <a:srgbClr val="0563C1"/>
      </a:hlink>
      <a:folHlink>
        <a:srgbClr val="954F72"/>
      </a:folHlink>
    </a:clrScheme>
    <a:fontScheme name="Consumo de API y almacenamiento en el navegador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nsola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899</Words>
  <Application>Microsoft Office PowerPoint</Application>
  <PresentationFormat>Panorámica</PresentationFormat>
  <Paragraphs>141</Paragraphs>
  <Slides>13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Segoe UI</vt:lpstr>
      <vt:lpstr>Consumo de API y almacenamiento en el navegador</vt:lpstr>
      <vt:lpstr>Consumo de API y almacenamiento en el navegador</vt:lpstr>
      <vt:lpstr>API, REST y endpoints</vt:lpstr>
      <vt:lpstr>Una API REST responde con JSON</vt:lpstr>
      <vt:lpstr>Estructura de un JSON</vt:lpstr>
      <vt:lpstr>fetch con async/await y Axios</vt:lpstr>
      <vt:lpstr>La interfaz tiene cuatro estados</vt:lpstr>
      <vt:lpstr>CORS, paginación y API keys</vt:lpstr>
      <vt:lpstr>localStorage vs sessionStorage vs cookies</vt:lpstr>
      <vt:lpstr>Código: guardar y leer con localStorage</vt:lpstr>
      <vt:lpstr>Caché con vencimiento</vt:lpstr>
      <vt:lpstr>Cómo decide la caché</vt:lpstr>
      <vt:lpstr>Qué no guardar en el navegador</vt:lpstr>
      <vt:lpstr>Manejo de estado: local vs global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Consumo de API y almacenamiento en el navegador</dc:title>
  <dc:subject/>
  <dc:creator/>
  <cp:lastModifiedBy>JENNIFER QUIROGA AMON</cp:lastModifiedBy>
  <cp:revision>3</cp:revision>
  <dcterms:created xsi:type="dcterms:W3CDTF">2026-10-23T01:12:32Z</dcterms:created>
  <dcterms:modified xsi:type="dcterms:W3CDTF">2026-10-28T05:04:54Z</dcterms:modified>
</cp:coreProperties>
</file>